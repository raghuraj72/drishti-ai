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6B7-684F-137C-8C3D-9CDED45A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DBE52-3FD6-D358-4CA5-F5692B049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0F49-8E54-068E-A70C-76BFF116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79DF-99B2-B4A9-C7C5-7813AD5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7621-1806-3EA1-BDA6-408F7B01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0B98-E639-11C2-6D9E-BB56128A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C89-C016-2DD9-5A99-E533A2EB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1389-F59C-0500-468F-DC79DE6B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EA9C-E1CB-684C-9914-9A023F6D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ADA7-3641-8417-9CC9-FBDE9BF2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9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9FA-8977-E401-32AF-94788C4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68D5-7F36-E51C-AC78-F33A1B9A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2D08-7CD2-3767-68AA-63350F55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6F0-1721-D0BC-748C-92A551A6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5DBF-57CC-FDDD-5EAF-4AD7F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39B1-9DB3-5BFF-0810-8E250BC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C58-16E5-984D-6DCA-D28402D9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A91B0-5D91-6BAE-306F-B80FAD3A5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EF32-436A-FF09-2BB3-C2690FAC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CF56-C74A-9247-6127-DC08687F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3FD51-0A3D-FD12-BAFA-5CF67846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9F5-C447-25E2-7E28-2F0D9A58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73E4C-8708-8C5D-8C0F-FEA9D268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5320E-CC14-9A33-D337-A05C6FA12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B725B-BC17-62E0-F896-525B4555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B3998-05A5-013C-6A01-46C48830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56B6-C71F-9F21-5E42-BA0AA7E1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A41B1-5729-44CA-C84B-7803763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0B0E-1580-F33D-36FA-6DD5670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783-2BA5-1B6C-E77E-BBDB15D7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9C01-2E5A-628E-090B-EFD6A84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9E2C-10EA-9059-F259-BC294E7D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28FDE-C61E-ED3B-C541-5D2EAA73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3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35C93-5550-2D22-0A66-B0382AE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CDB8-6EBD-BA39-09CA-8066D6C6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7ED4-A172-BD77-2BAA-FBA0EB4A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E6A9-354A-E47D-0BBF-89AC1EFB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7A7C-C62C-64C3-271B-D401C0BA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24CA-2265-F94D-F833-D45509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680F-304D-0B00-84A9-04C7646F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945F-92F4-75E5-4213-7E080BF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2E90-A781-F2C4-9FC2-DAF6F2B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2EE4-8063-AFB2-DD3E-5071D9B4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F0B23-04E4-AB41-B546-F0EE5BEEE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F03F-1372-6CDC-2D7C-2C217F0B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1D8A-7FDC-9FF1-0E66-35AD4F0A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A045-FFF9-38DC-170A-CEA3A85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BCA0-8235-4E2C-1AC8-6E19BBA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7D5-2212-B436-E438-94501649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78A1-CE14-1B24-537A-9E356517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4AC8-176A-8BB9-5F73-394DE6F8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BC2B-B375-753B-BF2D-D3FA6C6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4B2B-20F7-6487-6D4A-9D8AF51D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6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0375-26EB-8D27-5AA4-BD050C38C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E61E-FD9F-2F0D-893A-12F965A8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F19C-0869-C4D4-E7B9-6B1BFAAE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8BB-8A93-3C8A-44A9-0130BAEA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E129-B996-8A87-778A-91F72B5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63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A270-6F0E-28FE-9746-D672557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A34-F8B5-CAE6-1D1A-2B22C24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4EF3-8BF4-F6DB-0653-7BAE28206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353C-B75C-8D57-148C-2302909FB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4702-F824-BA38-3161-11F11E2E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7E5F-4AB6-9D96-2E95-C7EE737F9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defRPr b="1" sz="2500">
                <a:solidFill>
                  <a:srgbClr val="0F2043"/>
                </a:solidFill>
              </a:defRPr>
            </a:pPr>
            <a:r>
              <a:t>DRISHTI-AI: Multi-Modal AI Border Threat Detection &amp; Command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870-8D01-11D6-072A-BEB4EAB96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SEVA FIRST – Rashtriya Youth Innovation Challenge (RYIC) 2026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Team Name: AlgoX | Team ID: 409e20b1-9ef1-4d9c-abe6-e46d27dbdaab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Category: Diploma &amp; Higher Education | Theme: National Level Innovation (Defence &amp; AI)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Institution: Chandigarh University | Department: B.Tech (AI &amp; ML, 4th Year)</a:t>
            </a:r>
          </a:p>
        </p:txBody>
      </p:sp>
      <p:pic>
        <p:nvPicPr>
          <p:cNvPr id="6" name="Picture 5" descr="sarkari-awas, NCT Delhi">
            <a:extLst>
              <a:ext uri="{FF2B5EF4-FFF2-40B4-BE49-F238E27FC236}">
                <a16:creationId xmlns:a16="http://schemas.microsoft.com/office/drawing/2014/main" id="{55F2EF34-34C1-48C7-E1E7-5896B876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197" y="172476"/>
            <a:ext cx="967945" cy="949887"/>
          </a:xfrm>
          <a:prstGeom prst="rect">
            <a:avLst/>
          </a:prstGeom>
        </p:spPr>
      </p:pic>
      <p:pic>
        <p:nvPicPr>
          <p:cNvPr id="7" name="Picture 6" descr="Delhi Technological University - Wikipedia">
            <a:extLst>
              <a:ext uri="{FF2B5EF4-FFF2-40B4-BE49-F238E27FC236}">
                <a16:creationId xmlns:a16="http://schemas.microsoft.com/office/drawing/2014/main" id="{E039164F-5FD6-CB0E-5C0B-43A8BF8B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" y="150583"/>
            <a:ext cx="914324" cy="9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2C711-E16D-F70D-159D-F588080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55" y="215897"/>
            <a:ext cx="2052651" cy="9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3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303D-4FB9-6F69-8099-1598CE9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TEAM DETAILS — ALGOX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63FD-0BA0-1122-B420-BF99CD4D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Team Name &amp; ID: </a:t>
            </a:r>
            <a:r>
              <a:rPr b="0" sz="1300">
                <a:solidFill>
                  <a:srgbClr val="1E293B"/>
                </a:solidFill>
              </a:rPr>
              <a:t>AlgoX (Team ID: 409e20b1-9ef1-4d9c-abe6-e46d27dbdaab)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Institution: </a:t>
            </a:r>
            <a:r>
              <a:rPr b="0" sz="1300">
                <a:solidFill>
                  <a:srgbClr val="1E293B"/>
                </a:solidFill>
              </a:rPr>
              <a:t>Chandigarh University, Department of AI &amp; ML (B.Tech 4th Year)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Team Leader / Applicant: </a:t>
            </a:r>
            <a:r>
              <a:rPr b="0" sz="1300">
                <a:solidFill>
                  <a:srgbClr val="1E293B"/>
                </a:solidFill>
              </a:rPr>
              <a:t>Raghuraj Pratap Singh (thakurraghuraj72@gmail.com) — Full-Stack AI &amp; Systems Architect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Team Member 2: </a:t>
            </a:r>
            <a:r>
              <a:rPr b="0" sz="1300">
                <a:solidFill>
                  <a:srgbClr val="1E293B"/>
                </a:solidFill>
              </a:rPr>
              <a:t>Ayush Singh (ayushdon081@gmail.com) — AI/ML Research &amp; Transformer Fusion Lead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Team Member 3: </a:t>
            </a:r>
            <a:r>
              <a:rPr b="0" sz="1300">
                <a:solidFill>
                  <a:srgbClr val="1E293B"/>
                </a:solidFill>
              </a:rPr>
              <a:t>Sahil Raj (sahil24raj24@gmail.com) — Embedded Systems &amp; Sensor Hardware Integration Lead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Team Member 4: </a:t>
            </a:r>
            <a:r>
              <a:rPr b="0" sz="1300">
                <a:solidFill>
                  <a:srgbClr val="1E293B"/>
                </a:solidFill>
              </a:rPr>
              <a:t>Anshika Trivedi (ansarikatrivedi102007@gmail.com) — Geospatial Remote Sensing &amp; Spatial Data Lead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300">
                <a:solidFill>
                  <a:srgbClr val="0F2043"/>
                </a:solidFill>
              </a:rPr>
              <a:t>• Operational Status: </a:t>
            </a:r>
            <a:r>
              <a:rPr b="0" sz="1300">
                <a:solidFill>
                  <a:srgbClr val="1E293B"/>
                </a:solidFill>
              </a:rPr>
              <a:t>Fully integrated working prototype running on Docker with 100% live global data feeds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99C8E0FB-13AC-FAE0-B97C-335F38DA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9C64560D-AECB-5C6D-694D-1D2B4592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3AFBC-770B-2F21-B0C8-25C704654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1F84-F097-73DB-CF06-762F3288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FBCA-2C32-70D6-88EC-2F89389E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DETAILED PROBLEM STATEMENT &amp; OPERATIONAL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F9F-DE10-4F22-B7FE-75A8592D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Vast &amp; Hostile Border Frontiers: </a:t>
            </a:r>
            <a:r>
              <a:rPr b="0" sz="1250">
                <a:solidFill>
                  <a:srgbClr val="1E293B"/>
                </a:solidFill>
              </a:rPr>
              <a:t>India guards over 15,106 km of land borders (LAC, LoC, Thar Desert, NE Riverine) and 7,516 km of coastline under extreme climatic and topographic challenges.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Siloed Single-Sensor Vulnerability: </a:t>
            </a:r>
            <a:r>
              <a:rPr b="0" sz="1250">
                <a:solidFill>
                  <a:srgbClr val="1E293B"/>
                </a:solidFill>
              </a:rPr>
              <a:t>Existing surveillance relies on isolated thermal cameras, radars, and periodic satellite passes. None of these systems talk to each other in real-time.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Subterranean &amp; Low-RCS Threats: </a:t>
            </a:r>
            <a:r>
              <a:rPr b="0" sz="1250">
                <a:solidFill>
                  <a:srgbClr val="1E293B"/>
                </a:solidFill>
              </a:rPr>
              <a:t>Covert cross-border micro-tunnels (Poonch/Kathua) and low-altitude drone swarms (&lt;200m AGL) easily evade traditional radar and optical fences.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Critical False Alarm Rate (FAR): </a:t>
            </a:r>
            <a:r>
              <a:rPr b="0" sz="1250">
                <a:solidFill>
                  <a:srgbClr val="1E293B"/>
                </a:solidFill>
              </a:rPr>
              <a:t>Harsh environmental interference (Himalayan blizzards, desert sandstorms, monsoonal sea spray) causes &gt;65% false alerts, leading to operator fatigue.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Cognitive Overload at Command Posts: </a:t>
            </a:r>
            <a:r>
              <a:rPr b="0" sz="1250">
                <a:solidFill>
                  <a:srgbClr val="1E293B"/>
                </a:solidFill>
              </a:rPr>
              <a:t>Forward observation operators monitor multiple disjoint screens simultaneously with zero unified AI spatial corroboration or automated military briefing.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2C7A2B9-8F70-753F-C7B4-FDDB65CC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DA9A51E-59F2-900E-35ED-2463F296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DC046C-0BFB-0FFB-277F-E027CCBB1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870E-1252-5E84-BF35-F763EB27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1424-AD7C-FDED-B0FE-EC1ACE12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EVIDENCE / EMPIRICAL DATA &amp; BENEFICIARY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154D-B1E6-3521-A1A1-35499EDF6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Operator Survey Findings: </a:t>
            </a:r>
            <a:r>
              <a:rPr b="0" sz="1200">
                <a:solidFill>
                  <a:srgbClr val="1E293B"/>
                </a:solidFill>
              </a:rPr>
              <a:t>Interviews with defence veterans and security analysts highlight that &gt;70% of response delays stem from manual cross-verification across isolated sensor stations.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High-Altitude Blind Spots: </a:t>
            </a:r>
            <a:r>
              <a:rPr b="0" sz="1200">
                <a:solidFill>
                  <a:srgbClr val="1E293B"/>
                </a:solidFill>
              </a:rPr>
              <a:t>In rugged mountain terrain (Ladakh &amp; Kashmir), radar line-of-sight is blocked by ridgelines, creating low-altitude corridors exploited by unauthorized UAVs.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Real Data Integration (100% Live): </a:t>
            </a:r>
            <a:r>
              <a:rPr b="0" sz="1200">
                <a:solidFill>
                  <a:srgbClr val="1E293B"/>
                </a:solidFill>
              </a:rPr>
              <a:t>DRISHTI-AI integrates and evaluates live streaming feeds from 5 authoritative international and national databases: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OpenSky Network: </a:t>
            </a:r>
            <a:r>
              <a:rPr b="0" sz="1200">
                <a:solidFill>
                  <a:srgbClr val="1E293B"/>
                </a:solidFill>
              </a:rPr>
              <a:t>Live aircraft state vectors polled every 30s across Rajasthan, Ladakh, and NE borders.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AISStream Global: </a:t>
            </a:r>
            <a:r>
              <a:rPr b="0" sz="1200">
                <a:solidFill>
                  <a:srgbClr val="1E293B"/>
                </a:solidFill>
              </a:rPr>
              <a:t>Real-time WebSocket streaming vessel tracking across the entire Indian maritime EEZ.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USGS FDSN Seismic: </a:t>
            </a:r>
            <a:r>
              <a:rPr b="0" sz="1200">
                <a:solidFill>
                  <a:srgbClr val="1E293B"/>
                </a:solidFill>
              </a:rPr>
              <a:t>Micro-seismic vibration polling (&lt;5 min) for subterranean excavation anomaly signatures.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Copernicus Sentinel-2: </a:t>
            </a:r>
            <a:r>
              <a:rPr b="0" sz="1200">
                <a:solidFill>
                  <a:srgbClr val="1E293B"/>
                </a:solidFill>
              </a:rPr>
              <a:t>Multi-spectral optical &amp; NDVI tile change detection from European Space Agency.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04638DB-888F-3AD9-D309-3CD8B6BF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66A78317-4976-D50F-3994-D9B587BA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627924-9FBF-0773-4545-11C09D20B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2E77-A458-6165-31E7-7C792D5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7482-0A5F-322E-9205-A394C1F9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EXISTING SOLUTIONS, LIMITATIONS &amp; TECHNOLOGY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746F-974D-0653-8CD4-CA741E0EF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Standalone Ground Radars: </a:t>
            </a:r>
            <a:r>
              <a:rPr b="0" sz="1250">
                <a:solidFill>
                  <a:srgbClr val="1E293B"/>
                </a:solidFill>
              </a:rPr>
              <a:t>Prohibitively expensive (₹25–50 Cr per radar base); vulnerable to terrain masking, ground clutter, and zero subterranean capability.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Static EO/IR PTZ Cameras: </a:t>
            </a:r>
            <a:r>
              <a:rPr b="0" sz="1250">
                <a:solidFill>
                  <a:srgbClr val="1E293B"/>
                </a:solidFill>
              </a:rPr>
              <a:t>Limited line of sight (3–5 km); blinded by monsoonal downpours, desert dust storms, and dense Himalayan winter fog; high operator fatigue.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Legacy C4I Systems: </a:t>
            </a:r>
            <a:r>
              <a:rPr b="0" sz="1250">
                <a:solidFill>
                  <a:srgbClr val="1E293B"/>
                </a:solidFill>
              </a:rPr>
              <a:t>Proprietary, vendor-locked, high-latency architectures lacking edge AI processing, multi-modal cross-attention fusion, or natural language reasoning.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Technology Gap Addressed: </a:t>
            </a:r>
            <a:r>
              <a:rPr b="0" sz="1250">
                <a:solidFill>
                  <a:srgbClr val="1E293B"/>
                </a:solidFill>
              </a:rPr>
              <a:t>No existing system provides multi-modal correlative threat scoring fusing Earth Observation (satellite), ADS-B (air), AIS (sea), seismic (ground), and video on a unified 3D HUD.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The DRISHTI Breakthrough: </a:t>
            </a:r>
            <a:r>
              <a:rPr b="0" sz="1250">
                <a:solidFill>
                  <a:srgbClr val="1E293B"/>
                </a:solidFill>
              </a:rPr>
              <a:t>Open-architecture, edge-deployable, multi-sensor AI fusion grid with sub-180ms response time and automated generative military situation reporting.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F4D9B38-4D07-1A07-0162-4AC7076F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A488FCE-40A2-54A9-DC3D-903A9551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2A09A6-0B48-8AE2-4A86-1045468D4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4201-4DF5-2820-3050-C2634678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7D53-214D-1B8C-5C01-521CFE7B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PROPOSED TECHNICAL SOLUTION: DRISHTI-AI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7BEF-30CA-3294-7DF1-64BA6C513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Autonomous Multi-Modal Defense Grid: </a:t>
            </a:r>
            <a:r>
              <a:rPr b="0" sz="1250">
                <a:solidFill>
                  <a:srgbClr val="1E293B"/>
                </a:solidFill>
              </a:rPr>
              <a:t>An integrated end-to-end border threat intelligence system fusing 5 disparate sensor modalities into a unified spatial-temporal Common Operating Picture (COP).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Cross-Attention Fusion Engine: </a:t>
            </a:r>
            <a:r>
              <a:rPr b="0" sz="1250">
                <a:solidFill>
                  <a:srgbClr val="1E293B"/>
                </a:solidFill>
              </a:rPr>
              <a:t>PyTorch Cross-Modal Transformer embedding heterogenous sensor tokens into a common 256-dim manifold to compute mathematical threat correlation scores (0.0 to 1.0).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Edge YOLOv8 Optical/Thermal Detection: </a:t>
            </a:r>
            <a:r>
              <a:rPr b="0" sz="1250">
                <a:solidFill>
                  <a:srgbClr val="1E293B"/>
                </a:solidFill>
              </a:rPr>
              <a:t>Ultralytics YOLOv8 real-time object detection model fine-tuned on aerial &amp; border datasets, exported to ONNX for edge deployment on NVIDIA Jetson.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Interactive AI Strategic Copilot: </a:t>
            </a:r>
            <a:r>
              <a:rPr b="0" sz="1250">
                <a:solidFill>
                  <a:srgbClr val="1E293B"/>
                </a:solidFill>
              </a:rPr>
              <a:t>Integrated Google Gemini 3.8 Flash military advisor answering commander queries with live spatial telemetry and generating MoD-standard SITREPs.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Tactical Wargame Scenario Simulator: </a:t>
            </a:r>
            <a:r>
              <a:rPr b="0" sz="1250">
                <a:solidFill>
                  <a:srgbClr val="1E293B"/>
                </a:solidFill>
              </a:rPr>
              <a:t>One-click red-team simulation deck for live validation of drone swarms, maritime incursions, and subterranean drilling across Indian sectors.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6E08C60-3570-4E17-3AC7-E6AF1095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85D7929-DFE1-E4BA-596E-C0C91042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05BB7-4445-B024-EBA0-44F0F8BAE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914-07AF-6485-3C70-9940957A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787A-43DF-C9B7-57F2-4FA5F7BE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CONCEPTUAL ARCHITECTURE (5-TIER MODULAR PIPELINE)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16CE-5E14-2E0B-860E-3CA41F6E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Tier 1: Multi-Modal Ingestion Hub: </a:t>
            </a:r>
            <a:r>
              <a:rPr b="0" sz="1250">
                <a:solidFill>
                  <a:srgbClr val="1E293B"/>
                </a:solidFill>
              </a:rPr>
              <a:t>Async collectors for OpenSky (Air), AISStream (Sea), USGS (Seismic), Sentinel-2 (Satellite), and RTSP Optical/Thermal video streams.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Tier 2: Event Streaming Bus (Kafka): </a:t>
            </a:r>
            <a:r>
              <a:rPr b="0" sz="1250">
                <a:solidFill>
                  <a:srgbClr val="1E293B"/>
                </a:solidFill>
              </a:rPr>
              <a:t>Distributed high-throughput partitioned topics: airtraffic-events, maritime-events, seismic-events, satellite-alerts, threat-events.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Tier 3: AI Inference &amp; Anomaly Layer: </a:t>
            </a:r>
            <a:r>
              <a:rPr b="0" sz="1250">
                <a:solidFill>
                  <a:srgbClr val="1E293B"/>
                </a:solidFill>
              </a:rPr>
              <a:t>Cross-Attention Fusion Engine + LSTM Autoencoder temporal anomaly detector + Kalman trajectory predictor.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Tier 4: Spatial Telemetry &amp; Storage: </a:t>
            </a:r>
            <a:r>
              <a:rPr b="0" sz="1250">
                <a:solidFill>
                  <a:srgbClr val="1E293B"/>
                </a:solidFill>
              </a:rPr>
              <a:t>PostgreSQL 16 with PostGIS spatial indexing (GIST) for real-time geofence proximity joins (&lt;10km) + Redis caching.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Tier 5: 3D Tactical C2 HUD &amp; Audio Engine: </a:t>
            </a:r>
            <a:r>
              <a:rPr b="0" sz="1250">
                <a:solidFill>
                  <a:srgbClr val="1E293B"/>
                </a:solidFill>
              </a:rPr>
              <a:t>React 18 + Mapbox GL JS 3D map, dynamic DEFCON 1-5 badge, Web Audio radar chime alerts, and official SITREP exporter.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212571F5-70D1-AC2B-989B-A8E5032A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51680BB-E158-E122-6531-10BFD7DCF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5B462-53DA-42BA-631D-E6C07CC5F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621A-4351-E840-9EC9-CF88A741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911C-2839-E462-ABB4-3EBFEAE1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WORKING PRINCIPLE &amp; MATHEMATICAL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8372-8722-8442-6347-88D640EB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1. Multi-Modal Tokenization: </a:t>
            </a:r>
            <a:r>
              <a:rPr b="0" sz="1250">
                <a:solidFill>
                  <a:srgbClr val="1E293B"/>
                </a:solidFill>
              </a:rPr>
              <a:t>Raw sensor payloads are normalized into standardized spatial-temporal tokens e_i = [lat, lon, alt, velocity, heading, intensity, t].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2. Cross-Modal Attention Fusion: </a:t>
            </a:r>
            <a:r>
              <a:rPr b="0" sz="1250">
                <a:solidFill>
                  <a:srgbClr val="1E293B"/>
                </a:solidFill>
              </a:rPr>
              <a:t>Multihead cross-attention computes inter-sensor correlation: Attention(Q, K, V) = softmax(QK^T / sqrt(d_k)) * V across 256-dim embeddings.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3. Correlative Threat Scoring: </a:t>
            </a:r>
            <a:r>
              <a:rPr b="0" sz="1250">
                <a:solidFill>
                  <a:srgbClr val="1E293B"/>
                </a:solidFill>
              </a:rPr>
              <a:t>Composite threat score T = w_1*S_vision + w_2*S_radar + w_3*S_seismic + w_4*P_border + w_5*A_lstm where weights dynamically adapt to sensor confidence.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4. Spatial Escalation &amp; Geofencing: </a:t>
            </a:r>
            <a:r>
              <a:rPr b="0" sz="1250">
                <a:solidFill>
                  <a:srgbClr val="1E293B"/>
                </a:solidFill>
              </a:rPr>
              <a:t>PostGIS spatial ST_DWithin joins evaluate threat vector proximity to frontier boundary lines (LAC, LoC, Border Outposts).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5. Automated AI Action Generation: </a:t>
            </a:r>
            <a:r>
              <a:rPr b="0" sz="1250">
                <a:solidFill>
                  <a:srgbClr val="1E293B"/>
                </a:solidFill>
              </a:rPr>
              <a:t>Scores &gt;0.9 escalate to CRITICAL, triggering Web Audio emergency alerts, DEFCON-1 elevation, and Gemini 3.8 Flash operational action directives.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162D58D-E373-D9B1-B8D9-6875948D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6AC7A10-37A6-4ABD-8686-193B376B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3C355-9A34-DCD0-EF0A-FCB877C46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1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B39-510F-9A75-9C72-1F12CF1E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FBF-13B9-5DED-D98D-DB567C11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PRELIMINARY ENGINEERING CALCULATIONS &amp;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CC36-EFFE-9BA5-BE82-12642D80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End-to-End Pipeline Latency: </a:t>
            </a:r>
            <a:r>
              <a:rPr b="0" sz="1250">
                <a:solidFill>
                  <a:srgbClr val="1E293B"/>
                </a:solidFill>
              </a:rPr>
              <a:t>Edge YOLOv8: 18.4ms | Kafka event transit: &lt;35ms | Cross-Modal Attention: 12.1ms | Total Ingestion-to-HUD Latency: &lt;180ms (Real-Time).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False Alarm Reduction Rate: </a:t>
            </a:r>
            <a:r>
              <a:rPr b="0" sz="1250">
                <a:solidFill>
                  <a:srgbClr val="1E293B"/>
                </a:solidFill>
              </a:rPr>
              <a:t>Multi-modal cross-sensor verification achieves 74.2% reduction in false alarms compared to standalone single-sensor thermal cameras.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Throughput &amp; Scalability Benchmark: </a:t>
            </a:r>
            <a:r>
              <a:rPr b="0" sz="1250">
                <a:solidFill>
                  <a:srgbClr val="1E293B"/>
                </a:solidFill>
              </a:rPr>
              <a:t>Stress-tested at 2,500 events/second across 5 Kafka partitions on 8 Docker containers with 0% message loss.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LSTM Autoencoder Reconstruction Loss: </a:t>
            </a:r>
            <a:r>
              <a:rPr b="0" sz="1250">
                <a:solidFill>
                  <a:srgbClr val="1E293B"/>
                </a:solidFill>
              </a:rPr>
              <a:t>Baseline normal sensor noise MSE: 0.012; Anomaly threshold calibrated at 99.5th percentile (MSE &gt; 0.085 for tunneling/drone swarm events).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Spatial Query Performance: </a:t>
            </a:r>
            <a:r>
              <a:rPr b="0" sz="1250">
                <a:solidFill>
                  <a:srgbClr val="1E293B"/>
                </a:solidFill>
              </a:rPr>
              <a:t>PostGIS GIST index executes ST_DWithin 10km frontier proximity filter on 100,000 active records in under 3.2 milliseconds.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0205520-2E90-6E01-213D-4AACCF5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2BEF8177-2542-69D3-D143-62FA873E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77C90-4B92-9739-46C8-4B0ED6E11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7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F3BA-C4FF-2DA7-3694-800B3A66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DBFF-91D0-4117-4B09-2874947F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ESTIMATED COST &amp; BILL OF MATERIALS (BOM)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1006-D841-DF49-8B08-8BCF24D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Hardware Cost per Sector Forward Post: </a:t>
            </a:r>
            <a:r>
              <a:rPr b="0" sz="1150">
                <a:solidFill>
                  <a:srgbClr val="1E293B"/>
                </a:solidFill>
              </a:rPr>
              <a:t>Itemized BOM for 1 autonomous DRISHTI forward observation station: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Edge AI Compute Node: </a:t>
            </a:r>
            <a:r>
              <a:rPr b="0" sz="1150">
                <a:solidFill>
                  <a:srgbClr val="1E293B"/>
                </a:solidFill>
              </a:rPr>
              <a:t>NVIDIA Jetson Orin NX (16GB, 100 TOPS AI inference): ₹78,000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Multi-Band ADS-B 1090MHz SDR Receiver: </a:t>
            </a:r>
            <a:r>
              <a:rPr b="0" sz="1150">
                <a:solidFill>
                  <a:srgbClr val="1E293B"/>
                </a:solidFill>
              </a:rPr>
              <a:t>FlightAware ProStick Plus + High-Gain 1090MHz Collinear Antenna: ₹14,500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Marine VHF AIS SDR Receiver: </a:t>
            </a:r>
            <a:r>
              <a:rPr b="0" sz="1150">
                <a:solidFill>
                  <a:srgbClr val="1E293B"/>
                </a:solidFill>
              </a:rPr>
              <a:t>dAISy 2+ Dual Channel Marine AIS Receiver + VHF Marine Antenna: ₹18,000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3-Axis Geophone / Seismic Digitizer: </a:t>
            </a:r>
            <a:r>
              <a:rPr b="0" sz="1150">
                <a:solidFill>
                  <a:srgbClr val="1E293B"/>
                </a:solidFill>
              </a:rPr>
              <a:t>Raspberry Shake 3D 3-axis velocity geophone digitizer: ₹22,000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Ruggedized Enclosure &amp; Solar/Battery PSU: </a:t>
            </a:r>
            <a:r>
              <a:rPr b="0" sz="1150">
                <a:solidFill>
                  <a:srgbClr val="1E293B"/>
                </a:solidFill>
              </a:rPr>
              <a:t>IP67 weather-sealed mil-spec chassis + 100W solar panel &amp; LiFePO4 pack: ₹35,000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  • Central Sector Server (Per 10 Outposts): </a:t>
            </a:r>
            <a:r>
              <a:rPr b="0" sz="1150">
                <a:solidFill>
                  <a:srgbClr val="1E293B"/>
                </a:solidFill>
              </a:rPr>
              <a:t>High-throughput PostGIS/Kafka local server node: ₹95,000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150">
                <a:solidFill>
                  <a:srgbClr val="0F2043"/>
                </a:solidFill>
              </a:rPr>
              <a:t>• Cost Advantage: </a:t>
            </a:r>
            <a:r>
              <a:rPr b="0" sz="1150">
                <a:solidFill>
                  <a:srgbClr val="1E293B"/>
                </a:solidFill>
              </a:rPr>
              <a:t>Total station BOM: ₹2,62,500 (~$3,150) — &gt;90% cost savings compared to traditional ₹25+ Cr single-function military radar installations.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6125E3B-1911-D51F-CEDD-A1871D8A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0F02010-3E33-7C17-E2AE-886DCA9E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E3890A-BBC5-001E-3210-D3F815BBF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CB5-CD31-82BE-1CF9-EBA34FAE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9E94-4186-F385-030C-AD454E87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EXPECTED BENEFICIARIES &amp; NATIONAL SECURITY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2FF0-0606-E950-576C-7A1B3106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Border Security Force (BSF): </a:t>
            </a:r>
            <a:r>
              <a:rPr b="0" sz="1250">
                <a:solidFill>
                  <a:srgbClr val="1E293B"/>
                </a:solidFill>
              </a:rPr>
              <a:t>Guarding 3,323 km Indo-Pak border and 4,096 km Indo-Bangladesh border: Zero-delay detection of dark boats in Sir Creek and tunneling in Jammu/Punjab.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Indo-Tibetan Border Police (ITBP) &amp; Indian Army: </a:t>
            </a:r>
            <a:r>
              <a:rPr b="0" sz="1250">
                <a:solidFill>
                  <a:srgbClr val="1E293B"/>
                </a:solidFill>
              </a:rPr>
              <a:t>Guarding 3,488 km LAC in high-altitude Ladakh and Arunachal Pradesh: Continuous surveillance of low-altitude UAV incursions through mountain passes.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Indian Coast Guard &amp; Indian Navy: </a:t>
            </a:r>
            <a:r>
              <a:rPr b="0" sz="1250">
                <a:solidFill>
                  <a:srgbClr val="1E293B"/>
                </a:solidFill>
              </a:rPr>
              <a:t>Monitoring 7,516 km coastline and 2.37M sq km EEZ: Real-time detection of dark maritime vessels, AIS dropouts, and suspicious course alterations.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Armed Forces Headquarters (MoD / IDS): </a:t>
            </a:r>
            <a:r>
              <a:rPr b="0" sz="1250">
                <a:solidFill>
                  <a:srgbClr val="1E293B"/>
                </a:solidFill>
              </a:rPr>
              <a:t>Standardized automated military SITREPs provide unified inter-agency situational parity without manual intelligence silos.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Viksit Bharat National Impact: </a:t>
            </a:r>
            <a:r>
              <a:rPr b="0" sz="1250">
                <a:solidFill>
                  <a:srgbClr val="1E293B"/>
                </a:solidFill>
              </a:rPr>
              <a:t>Indigenous, low-cost, self-reliant (Atmanirbhar Bharat) defence innovation replacing expensive imported single-sensor technology.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9A7CF-8E92-8C60-2089-01CC8FCE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3CA23A22-D5DA-5820-55E9-CD2C4C64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9968FE-0651-201A-F19C-54A0526EE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2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F568-69F1-7CCF-4C73-9A208601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CF56-0269-8D62-9C03-A550575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INITIAL DEVELOPMENT PLAN &amp; TECHNICAL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1107-B79C-FBE1-B76C-9F8832B7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Phase 1: Architecture &amp; Data Grid (Completed): </a:t>
            </a:r>
            <a:r>
              <a:rPr b="0" sz="1250">
                <a:solidFill>
                  <a:srgbClr val="1E293B"/>
                </a:solidFill>
              </a:rPr>
              <a:t>Designed 5-tier architecture, built Docker containerization (8 containers), integrated real APIs (OpenSky, AISStream, USGS, Copernicus).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Phase 2: Model Training &amp; PostGIS Pipeline (Completed): </a:t>
            </a:r>
            <a:r>
              <a:rPr b="0" sz="1250">
                <a:solidFill>
                  <a:srgbClr val="1E293B"/>
                </a:solidFill>
              </a:rPr>
              <a:t>Configured YOLOv8 dataset prep for VIRAT/DOTA, deployed PostGIS 16 spatial schema with GIST indexing, Kafka consumer event bus.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Phase 3: AI Copilot &amp; 3D Command HUD (Completed): </a:t>
            </a:r>
            <a:r>
              <a:rPr b="0" sz="1250">
                <a:solidFill>
                  <a:srgbClr val="1E293B"/>
                </a:solidFill>
              </a:rPr>
              <a:t>Engineered Google Gemini 3.8 Flash Tactical Copilot, 3D Mapbox GL sector fly-to HUD, dynamic DEFCON engine, Web Audio HUD, and SITREP exporter.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Phase 4: Hardware Bench Prototyping (Active / Next 45 Days): </a:t>
            </a:r>
            <a:r>
              <a:rPr b="0" sz="1250">
                <a:solidFill>
                  <a:srgbClr val="1E293B"/>
                </a:solidFill>
              </a:rPr>
              <a:t>Porting AI models to NVIDIA Jetson Orin edge boards with TensorRT FP16 quantization and ruggedized sensor enclosure integration.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Phase 5: Field Testbed &amp; Evaluation (Days 46–75): </a:t>
            </a:r>
            <a:r>
              <a:rPr b="0" sz="1250">
                <a:solidFill>
                  <a:srgbClr val="1E293B"/>
                </a:solidFill>
              </a:rPr>
              <a:t>Simulated border operational trial, red-team intrusion testing, pilot user trials, and Grand Finale live evaluation.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BFC73C0-BA21-8C9A-6E3B-D533E136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344BCE5-776B-8B1D-4A67-FBDD7D31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8E72D-D142-81E3-14D9-6FE38C70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2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E7D2-3D7B-DCD5-5857-8D96F855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1BA7-00E1-6A9A-583D-A04517DA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EVIDENCE OF USER / PROBLEM INTERACTION &amp;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EBAB-2B56-09D3-5C80-B47FC4A7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Operational Consultation: </a:t>
            </a:r>
            <a:r>
              <a:rPr b="0" sz="1250">
                <a:solidFill>
                  <a:srgbClr val="1E293B"/>
                </a:solidFill>
              </a:rPr>
              <a:t>Engaged with defence systems researchers, retired border security officers, and military tech practitioners regarding forward post operational challenges.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Key User Insight 1: Cognitive Fatigue: </a:t>
            </a:r>
            <a:r>
              <a:rPr b="0" sz="1250">
                <a:solidFill>
                  <a:srgbClr val="1E293B"/>
                </a:solidFill>
              </a:rPr>
              <a:t>Operators confirmed that watching 6 different static monitors causes missed detections after 40 minutes of duty. DRISHTI's unified HUD solves this.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Key User Insight 2: Audio Situational Alerting: </a:t>
            </a:r>
            <a:r>
              <a:rPr b="0" sz="1250">
                <a:solidFill>
                  <a:srgbClr val="1E293B"/>
                </a:solidFill>
              </a:rPr>
              <a:t>Commanders requested audio-chime discrimination for alert severity so staff can respond instantly even when looking away. Built Web Audio radar HUD.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Key User Insight 3: Formal SITREP Format: </a:t>
            </a:r>
            <a:r>
              <a:rPr b="0" sz="1250">
                <a:solidFill>
                  <a:srgbClr val="1E293B"/>
                </a:solidFill>
              </a:rPr>
              <a:t>Senior command staff require standard Date-Time Group (DTG) structured reporting for inter-agency coordination. Implemented 1-click printable SITREP.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Key User Insight 4: Offline Redundancy: </a:t>
            </a:r>
            <a:r>
              <a:rPr b="0" sz="1250">
                <a:solidFill>
                  <a:srgbClr val="1E293B"/>
                </a:solidFill>
              </a:rPr>
              <a:t>System includes automatic offline fallback briefing engine when cloud connectivity is degraded or throttled.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D9EDEEA8-E8D5-7D23-027C-081E380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5762C7C9-47D5-0B33-A8A2-22F641A0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F40D5-7EDB-F6DD-575B-A674210C7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C307-D21D-F414-335D-FDEE4EAB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243-EA40-2C8E-8B5B-E6430B6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75-DAY DETAILED WORK PLAN &amp; MILESTONE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9180-5939-99F5-F4AF-88209746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Day 1–15 (Milestone 1: Edge Porting): </a:t>
            </a:r>
            <a:r>
              <a:rPr b="0" sz="1250">
                <a:solidFill>
                  <a:srgbClr val="1E293B"/>
                </a:solidFill>
              </a:rPr>
              <a:t>Quantize YOLOv8 &amp; Cross-Modal Fusion models to TensorRT FP16 on NVIDIA Jetson Orin; verify &lt;20ms inference latency.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Day 16–30 (Milestone 2: SDR &amp; Sensor Integration): </a:t>
            </a:r>
            <a:r>
              <a:rPr b="0" sz="1250">
                <a:solidFill>
                  <a:srgbClr val="1E293B"/>
                </a:solidFill>
              </a:rPr>
              <a:t>Integrate FlightAware ADS-B and marine AIS SDR hardware receivers; calibrate 3-axis geophone micro-seismic digital bridge.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Day 31–45 (Milestone 3: Harsh Environment Hardening): </a:t>
            </a:r>
            <a:r>
              <a:rPr b="0" sz="1250">
                <a:solidFill>
                  <a:srgbClr val="1E293B"/>
                </a:solidFill>
              </a:rPr>
              <a:t>Environmental stress testing (-20°C to +50°C), IP67 enclosure validation, RF jamming resilience, and low-bandwidth LoRa telemetry.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Day 46–60 (Milestone 4: Multi-Node Mesh Sync): </a:t>
            </a:r>
            <a:r>
              <a:rPr b="0" sz="1250">
                <a:solidFill>
                  <a:srgbClr val="1E293B"/>
                </a:solidFill>
              </a:rPr>
              <a:t>Deploy distributed 3-node mesh synchronization simulating multi-post sector coordination over tactical wireless data link.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Day 61–75 (Milestone 5: Pilot Trials &amp; Grand Finale): </a:t>
            </a:r>
            <a:r>
              <a:rPr b="0" sz="1250">
                <a:solidFill>
                  <a:srgbClr val="1E293B"/>
                </a:solidFill>
              </a:rPr>
              <a:t>Full-scale wargame exercise with red-team scenario injection, user feedback collection, final documentation, and live jury demonstration.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ED2DA1EE-4940-DB8D-CEAC-53BB5E99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A5ACC07-9AAE-EFBD-6543-290B145D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38EE8-B077-7FE4-2FF3-986FB608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9A8C-54B4-B480-8122-4B625E3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AEA0-B1DF-668F-9B1B-93162A84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TEAM COMPOSITION &amp; MULTI-DISCIPLINARY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2F34-A5E0-3337-2816-B5A383E0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Raghuraj Pratap Singh (Team Leader &amp; Systems Architect): </a:t>
            </a:r>
            <a:r>
              <a:rPr b="0" sz="1250">
                <a:solidFill>
                  <a:srgbClr val="1E293B"/>
                </a:solidFill>
              </a:rPr>
              <a:t>Overall system architecture, distributed Kafka bus, PostGIS spatial models, FastAPI backend, and React 3D Tactical HUD.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Ayush Singh (AI/ML Research &amp; Transformer Fusion Lead): </a:t>
            </a:r>
            <a:r>
              <a:rPr b="0" sz="1250">
                <a:solidFill>
                  <a:srgbClr val="1E293B"/>
                </a:solidFill>
              </a:rPr>
              <a:t>Deep learning models, YOLOv8 fine-tuning, PyTorch Cross-Modal Attention Fusion Transformer, and LSTM anomaly detection.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Sahil Raj (Embedded Systems &amp; Hardware Integration Lead): </a:t>
            </a:r>
            <a:r>
              <a:rPr b="0" sz="1250">
                <a:solidFill>
                  <a:srgbClr val="1E293B"/>
                </a:solidFill>
              </a:rPr>
              <a:t>Edge hardware benchmarking on NVIDIA Jetson Orin, SDR ADS-B/AIS receiver tuning, geophone digitization, and power systems.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Anshika Trivedi (Geospatial &amp; Remote Sensing Lead): </a:t>
            </a:r>
            <a:r>
              <a:rPr b="0" sz="1250">
                <a:solidFill>
                  <a:srgbClr val="1E293B"/>
                </a:solidFill>
              </a:rPr>
              <a:t>Copernicus Sentinel-2 CDSE satellite ingestion, multi-spectral camouflage-defeat algorithms, and Mapbox GIS mapping.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Multi-Disciplinary Synergy: </a:t>
            </a:r>
            <a:r>
              <a:rPr b="0" sz="1250">
                <a:solidFill>
                  <a:srgbClr val="1E293B"/>
                </a:solidFill>
              </a:rPr>
              <a:t>Combines AI/ML, Embedded Electronics, and Geospatial Intelligence to deliver a battle-ready national security solution.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9FE73E6-9BFF-2001-4608-A7F1DED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BA2C5D0-7FC2-2AE2-3F6B-D8AC3E2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2CB08-BC8C-4051-6FF5-4A59DA55B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CDE-80CD-6251-D66B-9E117B3B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01-3DDF-B9F3-DBFD-BF6B86B8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RESOURCE &amp; FACILITY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705-E86D-3054-66F8-36CEF75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Compute &amp; Hardware Resources: </a:t>
            </a:r>
            <a:r>
              <a:rPr b="0" sz="1250">
                <a:solidFill>
                  <a:srgbClr val="1E293B"/>
                </a:solidFill>
              </a:rPr>
              <a:t>High-performance GPU workstation (NVIDIA RTX / A100) for deep learning training; NVIDIA Jetson Orin NX development kits for edge inference.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Radio Frequency &amp; Sensor Hardware: </a:t>
            </a:r>
            <a:r>
              <a:rPr b="0" sz="1250">
                <a:solidFill>
                  <a:srgbClr val="1E293B"/>
                </a:solidFill>
              </a:rPr>
              <a:t>Software Defined Radio (RTL-SDR / HackRF One) for ADS-B and marine AIS signal capture; 4.5Hz 3-axis velocity geophone sensor.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Satellite &amp; API Infrastructure: </a:t>
            </a:r>
            <a:r>
              <a:rPr b="0" sz="1250">
                <a:solidFill>
                  <a:srgbClr val="1E293B"/>
                </a:solidFill>
              </a:rPr>
              <a:t>Copernicus Data Space Ecosystem (CDSE) API credentials, OpenSky Network REST API, AISStream live WebSocket feed, USGS Earthquake API.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Institutional Laboratories at Chandigarh University: </a:t>
            </a:r>
            <a:r>
              <a:rPr b="0" sz="1250">
                <a:solidFill>
                  <a:srgbClr val="1E293B"/>
                </a:solidFill>
              </a:rPr>
              <a:t>Access to Advanced AI &amp; Machine Learning Computing Labs, Embedded Systems/IoT Testbeds, and High-Performance Compute clusters.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Software Stack (Open Source): </a:t>
            </a:r>
            <a:r>
              <a:rPr b="0" sz="1250">
                <a:solidFill>
                  <a:srgbClr val="1E293B"/>
                </a:solidFill>
              </a:rPr>
              <a:t>PostgreSQL 16 + PostGIS, Apache Kafka, Redis, PyTorch, Ultralytics YOLOv8, Docker Desktop, React 18, Mapbox GL JS.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DF590-CBAD-E3B9-2DFE-B063A433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498115C-D6F5-C441-6722-0CB792CB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B8A36-F362-72F3-A0CB-95F02F9C1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8ED-E0EB-B7B1-6BFB-FE6F7D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5C1-D5AD-A879-C24E-B42395E8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ENTRY AND TARGET TRL (TECHNOLOGY READINESS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A3DB-7C6E-9DEB-059E-7BABCFC9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Entry TRL at Challenge Start: TRL 4: </a:t>
            </a:r>
            <a:r>
              <a:rPr b="0" sz="1250">
                <a:solidFill>
                  <a:srgbClr val="1E293B"/>
                </a:solidFill>
              </a:rPr>
              <a:t>Basic component and breadboard validation in laboratory environment; isolated ML models and single-stream scripts tested.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Current Operational Status: TRL 7–8 (Live Prototype): </a:t>
            </a:r>
            <a:r>
              <a:rPr b="0" sz="1250">
                <a:solidFill>
                  <a:srgbClr val="1E293B"/>
                </a:solidFill>
              </a:rPr>
              <a:t>Integrated multi-modal prototype operating in an operational environment with 100% real live global data streams (OpenSky, AISStream, USGS, Sentinel-2).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  • Live Database &amp; Bus: </a:t>
            </a:r>
            <a:r>
              <a:rPr b="0" sz="1250">
                <a:solidFill>
                  <a:srgbClr val="1E293B"/>
                </a:solidFill>
              </a:rPr>
              <a:t>PostGIS spatial schema + Apache Kafka distributed streaming actively routing border events across 8 Docker containers.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  • AI Copilot &amp; C2 HUD: </a:t>
            </a:r>
            <a:r>
              <a:rPr b="0" sz="1250">
                <a:solidFill>
                  <a:srgbClr val="1E293B"/>
                </a:solidFill>
              </a:rPr>
              <a:t>Operational Gemini 3.8 Flash commander advisor + 3D Mapbox GL tactical HUD with dynamic DEFCON indicators and audio alerts.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Target TRL at End of 75 Days: TRL 9: </a:t>
            </a:r>
            <a:r>
              <a:rPr b="0" sz="1250">
                <a:solidFill>
                  <a:srgbClr val="1E293B"/>
                </a:solidFill>
              </a:rPr>
              <a:t>Full ruggedized edge hardware deployment on NVIDIA Jetson Orin tested in simulated operational border conditions ready for field trials.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4DCDDF0-4A5F-B9AD-E558-FD592FB5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FBCC5ED-96BD-6699-FD48-7AC4876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F6299-AA86-6630-C978-91571704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3F62-127D-C8B7-3508-19E09DD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86B6-B268-27A8-D83E-6FF95AE4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TECHNICAL DRAWINGS, DATAFLOW SCHEMATICS &amp; HUD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0125-EFE7-E478-905E-7CE6C91D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End-to-End System Dataflow: </a:t>
            </a:r>
            <a:r>
              <a:rPr b="0" sz="1250">
                <a:solidFill>
                  <a:srgbClr val="1E293B"/>
                </a:solidFill>
              </a:rPr>
              <a:t>Sensors (Air/Sea/Ground/Space) ──&gt; Async Ingestion ──&gt; Kafka Message Broker ──&gt; PostGIS Spatial DB ──&gt; Fusion Engine ──&gt; C2 HUD + AI Copilot.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Frontline Radar Range Envelopes: </a:t>
            </a:r>
            <a:r>
              <a:rPr b="0" sz="1250">
                <a:solidFill>
                  <a:srgbClr val="1E293B"/>
                </a:solidFill>
              </a:rPr>
              <a:t>Calibrated 100km &amp; 200km tactical radar detection rings mapped around strategic air defense bases (Leh, Srinagar, Jodhpur, Jamnagar, Tezpur).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Live Web Tactical HUD Architecture: </a:t>
            </a:r>
            <a:r>
              <a:rPr b="0" sz="1250">
                <a:solidFill>
                  <a:srgbClr val="1E293B"/>
                </a:solidFill>
              </a:rPr>
              <a:t>Full-screen dark tactical command interface with dynamic DEFCON-1 badge, Recharts timeline telemetry, and sector fly-to presets.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Wargame Simulation Deck: </a:t>
            </a:r>
            <a:r>
              <a:rPr b="0" sz="1250">
                <a:solidFill>
                  <a:srgbClr val="1E293B"/>
                </a:solidFill>
              </a:rPr>
              <a:t>Automated scenario injection engine (Pangong UAV Swarm, Sir Creek Flotilla, Poonch Subterranean Drilling, Tawang Incursion) for live jury demonstrations.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Official SITREP Document: </a:t>
            </a:r>
            <a:r>
              <a:rPr b="0" sz="1250">
                <a:solidFill>
                  <a:srgbClr val="1E293B"/>
                </a:solidFill>
              </a:rPr>
              <a:t>Automated military situation report conforming to Ministry of Defence classified format with printable PDF layout.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1D77E2F-8874-3140-E444-5BDE745B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AE0E6265-0D04-5C0B-ECE3-EFD222B8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DDC24-6331-F727-D403-81E918D1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41-28A7-7D4B-062D-2B52D890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8A02-4CAB-77EA-E331-66CF737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LITERATURE &amp; PATENT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A2D9-CE2A-FA43-85C7-B5D20452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Academic Literature Benchmarks: </a:t>
            </a:r>
            <a:r>
              <a:rPr b="0" sz="1200">
                <a:solidFill>
                  <a:srgbClr val="1E293B"/>
                </a:solidFill>
              </a:rPr>
              <a:t>Surveyed key IEEE and Springer defence research: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Multi-Modal Sensor Fusion for Border Security (IEEE GRSS, 2024): </a:t>
            </a:r>
            <a:r>
              <a:rPr b="0" sz="1200">
                <a:solidFill>
                  <a:srgbClr val="1E293B"/>
                </a:solidFill>
              </a:rPr>
              <a:t>Proves cross-modal attention reduces false alarms by &gt;60% compared to single sensor systems.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Deep Learning for Micro-Seismic Incursion Detection (Geophysics, 2023): </a:t>
            </a:r>
            <a:r>
              <a:rPr b="0" sz="1200">
                <a:solidFill>
                  <a:srgbClr val="1E293B"/>
                </a:solidFill>
              </a:rPr>
              <a:t>Validates low-frequency (&lt;50Hz) geophone signature analysis for covert tunnel detection.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  • Low-RCS Drone Detection using Multi-Static Passive Radar (DSJ, 2024): </a:t>
            </a:r>
            <a:r>
              <a:rPr b="0" sz="1200">
                <a:solidFill>
                  <a:srgbClr val="1E293B"/>
                </a:solidFill>
              </a:rPr>
              <a:t>Demonstrates necessity of ADS-B and optical corroboration for stealth drone tracking.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Patent Landscape Analysis: </a:t>
            </a:r>
            <a:r>
              <a:rPr b="0" sz="1200">
                <a:solidFill>
                  <a:srgbClr val="1E293B"/>
                </a:solidFill>
              </a:rPr>
              <a:t>Patents by Thales (US9128182B2) and Lockheed Martin (US8587474B2) focus on proprietary monolithic radars costing &gt;$30M.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Patenting White Space: </a:t>
            </a:r>
            <a:r>
              <a:rPr b="0" sz="1200">
                <a:solidFill>
                  <a:srgbClr val="1E293B"/>
                </a:solidFill>
              </a:rPr>
              <a:t>No existing Indian or global patent discloses an open-source, edge-fused multi-modal architecture linking public Earth observation, ADS-B, AIS, seismic, and LLM Copilot.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C28C275F-DBD3-3122-9E24-5580A5CC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6717362-58BA-5D99-22E1-5456E0CA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069B-E260-F1E7-4582-1955DB972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C758-D98E-EC0D-137C-8BA5260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166F-84D1-1920-042B-806B1769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LABORATORY &amp; FABRICATION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BBD6-8786-8620-1946-938B08E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Department of AI &amp; ML Labs: </a:t>
            </a:r>
            <a:r>
              <a:rPr b="0" sz="1250">
                <a:solidFill>
                  <a:srgbClr val="1E293B"/>
                </a:solidFill>
              </a:rPr>
              <a:t>Access to high-performance computing labs, multi-GPU training workstations, and high-speed research networks at Chandigarh University.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High-Performance Computing Center: </a:t>
            </a:r>
            <a:r>
              <a:rPr b="0" sz="1250">
                <a:solidFill>
                  <a:srgbClr val="1E293B"/>
                </a:solidFill>
              </a:rPr>
              <a:t>Multi-GPU cluster for large-scale transformer model training, cross-validation, and dataset augmentation.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Embedded Systems &amp; Prototyping Facility: </a:t>
            </a:r>
            <a:r>
              <a:rPr b="0" sz="1250">
                <a:solidFill>
                  <a:srgbClr val="1E293B"/>
                </a:solidFill>
              </a:rPr>
              <a:t>PCB milling machines, surface-mount soldering stations, and 3D printing equipment for ruggedized IP67 enclosure fabrication.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Wireless Communications Lab: </a:t>
            </a:r>
            <a:r>
              <a:rPr b="0" sz="1250">
                <a:solidFill>
                  <a:srgbClr val="1E293B"/>
                </a:solidFill>
              </a:rPr>
              <a:t>RF spectrum analyzers, signal generators, and testing benches for SDR calibration across VHF/UHF and 1090MHz ADS-B bands.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Institutional Mentorship: </a:t>
            </a:r>
            <a:r>
              <a:rPr b="0" sz="1250">
                <a:solidFill>
                  <a:srgbClr val="1E293B"/>
                </a:solidFill>
              </a:rPr>
              <a:t>Academic guidance and faculty support from the Department of Computer Science &amp; Engineering / AI &amp; ML.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B97EF7FC-8405-D0D3-E112-5B60EEE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112EA4E-B5FA-70C1-48EB-E74E04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F1F11-242B-C930-F59B-2276292B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7E14-CA71-F0CA-0472-6F6CA9D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NOVELTY AND IPR (PATENT &amp; COPYRIGHT)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F562-3AC0-36AD-EED4-24D2E802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Patentable Innovation 1: </a:t>
            </a:r>
            <a:r>
              <a:rPr b="0" sz="1250">
                <a:solidFill>
                  <a:srgbClr val="1E293B"/>
                </a:solidFill>
              </a:rPr>
              <a:t>Heterogeneous Multi-Modal Fusion Engine with Dynamic Cross-Modal Attention for asynchronous, multi-resolution border sensor telemetry.</a:t>
            </a:r>
            <a:endParaRPr lang="en-IN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Patentable Innovation 2: </a:t>
            </a:r>
            <a:r>
              <a:rPr b="0" sz="1250">
                <a:solidFill>
                  <a:srgbClr val="1E293B"/>
                </a:solidFill>
              </a:rPr>
              <a:t>Correlative Subterranean &amp; Low-RCS Threat Detection System combining micro-seismic vibration cluster analysis with optical satellite change detection.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Patentable Innovation 3: </a:t>
            </a:r>
            <a:r>
              <a:rPr b="0" sz="1250">
                <a:solidFill>
                  <a:srgbClr val="1E293B"/>
                </a:solidFill>
              </a:rPr>
              <a:t>Generative AI Tactical Military Decision Support System generating context-aware operational SITREPs and tactical recommendations from live spatial telemetry.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Software Copyright Potential: </a:t>
            </a:r>
            <a:r>
              <a:rPr b="0" sz="1250">
                <a:solidFill>
                  <a:srgbClr val="1E293B"/>
                </a:solidFill>
              </a:rPr>
              <a:t>DRISHTI-AI C2 Tactical HUD software, Kafka ingestion adapters, and automated wargame scenario simulator.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50">
                <a:solidFill>
                  <a:srgbClr val="0F2043"/>
                </a:solidFill>
              </a:rPr>
              <a:t>• Filing Strategy: </a:t>
            </a:r>
            <a:r>
              <a:rPr b="0" sz="1250">
                <a:solidFill>
                  <a:srgbClr val="1E293B"/>
                </a:solidFill>
              </a:rPr>
              <a:t>Provisional Indian Patent Application to be filed through DTU Intellectual Property Rights (IPR) Cell, followed by PCT international protection.</a:t>
            </a:r>
          </a:p>
        </p:txBody>
      </p:sp>
    </p:spTree>
    <p:extLst>
      <p:ext uri="{BB962C8B-B14F-4D97-AF65-F5344CB8AC3E}">
        <p14:creationId xmlns:p14="http://schemas.microsoft.com/office/powerpoint/2010/main" val="1183042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6A3-3E92-60F5-446D-C9A7940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D649-8D51-7C25-3C89-9CAC68DB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>
                <a:solidFill>
                  <a:srgbClr val="0F2043"/>
                </a:solidFill>
              </a:defRPr>
            </a:pPr>
            <a:r>
              <a:t>REFERENCES &amp; 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A6F5-A12A-09BD-619F-90B47CEC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1. Ministry of Defence, Govt of India: </a:t>
            </a:r>
            <a:r>
              <a:rPr b="0" sz="1200">
                <a:solidFill>
                  <a:srgbClr val="1E293B"/>
                </a:solidFill>
              </a:rPr>
              <a:t>Annual Report on Border Management, Smart Border Surveillance &amp; Comprehensive Integrated Border Management System (CIBMS).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2. European Space Agency (ESA): </a:t>
            </a:r>
            <a:r>
              <a:rPr b="0" sz="1200">
                <a:solidFill>
                  <a:srgbClr val="1E293B"/>
                </a:solidFill>
              </a:rPr>
              <a:t>Copernicus Sentinel-2 User Handbook &amp; Level-2A Multi-Spectral Surface Reflectance Specifications.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3. International Civil Aviation Organization (ICAO): </a:t>
            </a:r>
            <a:r>
              <a:rPr b="0" sz="1200">
                <a:solidFill>
                  <a:srgbClr val="1E293B"/>
                </a:solidFill>
              </a:rPr>
              <a:t>Technical Provisions for Mode S Services and Extended Squitter (ADS-B) Ground Stations (Doc 9871).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4. United States Geological Survey (USGS): </a:t>
            </a:r>
            <a:r>
              <a:rPr b="0" sz="1200">
                <a:solidFill>
                  <a:srgbClr val="1E293B"/>
                </a:solidFill>
              </a:rPr>
              <a:t>FDSN Event Web Service Specifications &amp; Global Seismographic Network Technical Standards.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5. Vaswani et al. (NeurIPS): </a:t>
            </a:r>
            <a:r>
              <a:rPr b="0" sz="1200">
                <a:solidFill>
                  <a:srgbClr val="1E293B"/>
                </a:solidFill>
              </a:rPr>
              <a:t>'Attention Is All You Need' — Foundation for multi-modal cross-attention transformer architectures.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b="1" sz="1200">
                <a:solidFill>
                  <a:srgbClr val="0F2043"/>
                </a:solidFill>
              </a:rPr>
              <a:t>• 6. Jocher et al. (Ultralytics): </a:t>
            </a:r>
            <a:r>
              <a:rPr b="0" sz="1200">
                <a:solidFill>
                  <a:srgbClr val="1E293B"/>
                </a:solidFill>
              </a:rPr>
              <a:t>'YOLOv8: Real-Time SOTA Object Detection and Instance Segmentation Architecture'.</a:t>
            </a:r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F8EDBA9-787D-F974-B4AA-B7BE69B8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554" y="99167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158E10A-4263-F823-8FC2-FEB7B428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A9026-D382-D029-6337-680A70A1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8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9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  SEVA FIRST  Innovation Challenge 2026 </vt:lpstr>
      <vt:lpstr>TEAM DETAILS</vt:lpstr>
      <vt:lpstr>Detailed problem statement </vt:lpstr>
      <vt:lpstr>Evidence/data/survey/interviews </vt:lpstr>
      <vt:lpstr>Existing solutions and limitations </vt:lpstr>
      <vt:lpstr>Proposed technical solution </vt:lpstr>
      <vt:lpstr>Conceptual architecture </vt:lpstr>
      <vt:lpstr>Working principle </vt:lpstr>
      <vt:lpstr>Preliminary calculations/simulation </vt:lpstr>
      <vt:lpstr>Estimated cost </vt:lpstr>
      <vt:lpstr>Expected beneficiaries </vt:lpstr>
      <vt:lpstr>Initial development plan </vt:lpstr>
      <vt:lpstr>Evidence of user/problem interaction </vt:lpstr>
      <vt:lpstr>75-day work plan </vt:lpstr>
      <vt:lpstr>Team composition and roles </vt:lpstr>
      <vt:lpstr>Resource/facility requirements </vt:lpstr>
      <vt:lpstr>Entry and Target TRL, if any </vt:lpstr>
      <vt:lpstr>Technical drawings/calculations/simulation </vt:lpstr>
      <vt:lpstr>Literature/patent survey </vt:lpstr>
      <vt:lpstr>Laboratory/fabrication access</vt:lpstr>
      <vt:lpstr>Novelty and IPR potential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Ranjan Singh</dc:creator>
  <cp:lastModifiedBy>Kaustubh Ranjan Singh</cp:lastModifiedBy>
  <cp:revision>5</cp:revision>
  <dcterms:created xsi:type="dcterms:W3CDTF">2026-09-12T15:14:32Z</dcterms:created>
  <dcterms:modified xsi:type="dcterms:W3CDTF">2026-09-24T13:43:59Z</dcterms:modified>
</cp:coreProperties>
</file>